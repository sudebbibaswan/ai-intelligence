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c2b3f198894c5b" /><Relationship Type="http://schemas.openxmlformats.org/officeDocument/2006/relationships/extended-properties" Target="/docProps/app.xml" Id="R42d57a63034c4f5f" /><Relationship Type="http://schemas.openxmlformats.org/officeDocument/2006/relationships/officeDocument" Target="/ppt/presentation.xml" Id="R327bc4aa01c9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cc594b19142ae"/>
  </p:sldMasterIdLst>
  <p:notesMasterIdLst>
    <p:notesMasterId xmlns:r="http://schemas.openxmlformats.org/officeDocument/2006/relationships" r:id="Rbd2f1554ddd647a8"/>
  </p:notesMasterIdLst>
  <p:sldIdLst>
    <p:sldId xmlns:r="http://schemas.openxmlformats.org/officeDocument/2006/relationships" id="256" r:id="R0e471ce4226f46cd"/>
    <p:sldId xmlns:r="http://schemas.openxmlformats.org/officeDocument/2006/relationships" id="257" r:id="Rc7d2ce9a60e44525"/>
    <p:sldId xmlns:r="http://schemas.openxmlformats.org/officeDocument/2006/relationships" id="258" r:id="Rde60583750da4243"/>
    <p:sldId xmlns:r="http://schemas.openxmlformats.org/officeDocument/2006/relationships" id="259" r:id="R27980d84c1334cc4"/>
    <p:sldId xmlns:r="http://schemas.openxmlformats.org/officeDocument/2006/relationships" id="260" r:id="R4bbda02eca454f73"/>
    <p:sldId xmlns:r="http://schemas.openxmlformats.org/officeDocument/2006/relationships" id="261" r:id="Rd8581f52f6004a9e"/>
    <p:sldId xmlns:r="http://schemas.openxmlformats.org/officeDocument/2006/relationships" id="262" r:id="Ra10c08416f094e83"/>
    <p:sldId xmlns:r="http://schemas.openxmlformats.org/officeDocument/2006/relationships" id="263" r:id="R0a172a301d264417"/>
    <p:sldId xmlns:r="http://schemas.openxmlformats.org/officeDocument/2006/relationships" id="264" r:id="R90ccb2d841c54f83"/>
    <p:sldId xmlns:r="http://schemas.openxmlformats.org/officeDocument/2006/relationships" id="265" r:id="Rb843fedf783f4835"/>
    <p:sldId xmlns:r="http://schemas.openxmlformats.org/officeDocument/2006/relationships" id="266" r:id="R776c1702fe0e4104"/>
    <p:sldId xmlns:r="http://schemas.openxmlformats.org/officeDocument/2006/relationships" id="267" r:id="R8ac50520027144c3"/>
    <p:sldId xmlns:r="http://schemas.openxmlformats.org/officeDocument/2006/relationships" id="268" r:id="R700679d2521e44b2"/>
    <p:sldId xmlns:r="http://schemas.openxmlformats.org/officeDocument/2006/relationships" id="269" r:id="R8e9d9641fd064e73"/>
    <p:sldId xmlns:r="http://schemas.openxmlformats.org/officeDocument/2006/relationships" id="270" r:id="Ree45c92b8a57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896b584ab4107" /><Relationship Type="http://schemas.openxmlformats.org/officeDocument/2006/relationships/slideMaster" Target="/ppt/slideMasters/slideMaster1.xml" Id="Rdf0cc594b19142ae" /><Relationship Type="http://schemas.openxmlformats.org/officeDocument/2006/relationships/notesMaster" Target="/ppt/notesMasters/notesMaster1.xml" Id="Rbd2f1554ddd647a8" /><Relationship Type="http://schemas.openxmlformats.org/officeDocument/2006/relationships/presProps" Target="/ppt/presProps.xml" Id="R11c9afc74baf4a1b" /><Relationship Type="http://schemas.openxmlformats.org/officeDocument/2006/relationships/tableStyles" Target="/ppt/tableStyles.xml" Id="Rca6d8150279e4df3" /><Relationship Type="http://schemas.openxmlformats.org/officeDocument/2006/relationships/slide" Target="/ppt/slides/slide1.xml" Id="R0e471ce4226f46cd" /><Relationship Type="http://schemas.openxmlformats.org/officeDocument/2006/relationships/slide" Target="/ppt/slides/slide2.xml" Id="Rc7d2ce9a60e44525" /><Relationship Type="http://schemas.openxmlformats.org/officeDocument/2006/relationships/slide" Target="/ppt/slides/slide3.xml" Id="Rde60583750da4243" /><Relationship Type="http://schemas.openxmlformats.org/officeDocument/2006/relationships/slide" Target="/ppt/slides/slide4.xml" Id="R27980d84c1334cc4" /><Relationship Type="http://schemas.openxmlformats.org/officeDocument/2006/relationships/slide" Target="/ppt/slides/slide5.xml" Id="R4bbda02eca454f73" /><Relationship Type="http://schemas.openxmlformats.org/officeDocument/2006/relationships/slide" Target="/ppt/slides/slide6.xml" Id="Rd8581f52f6004a9e" /><Relationship Type="http://schemas.openxmlformats.org/officeDocument/2006/relationships/slide" Target="/ppt/slides/slide7.xml" Id="Ra10c08416f094e83" /><Relationship Type="http://schemas.openxmlformats.org/officeDocument/2006/relationships/slide" Target="/ppt/slides/slide8.xml" Id="R0a172a301d264417" /><Relationship Type="http://schemas.openxmlformats.org/officeDocument/2006/relationships/slide" Target="/ppt/slides/slide9.xml" Id="R90ccb2d841c54f83" /><Relationship Type="http://schemas.openxmlformats.org/officeDocument/2006/relationships/slide" Target="/ppt/slides/slide10.xml" Id="Rb843fedf783f4835" /><Relationship Type="http://schemas.openxmlformats.org/officeDocument/2006/relationships/slide" Target="/ppt/slides/slide11.xml" Id="R776c1702fe0e4104" /><Relationship Type="http://schemas.openxmlformats.org/officeDocument/2006/relationships/slide" Target="/ppt/slides/slide12.xml" Id="R8ac50520027144c3" /><Relationship Type="http://schemas.openxmlformats.org/officeDocument/2006/relationships/slide" Target="/ppt/slides/slide13.xml" Id="R700679d2521e44b2" /><Relationship Type="http://schemas.openxmlformats.org/officeDocument/2006/relationships/slide" Target="/ppt/slides/slide14.xml" Id="R8e9d9641fd064e73" /><Relationship Type="http://schemas.openxmlformats.org/officeDocument/2006/relationships/slide" Target="/ppt/slides/slide15.xml" Id="Ree45c92b8a57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242ac0d4d2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ad09c68744190" /><Relationship Type="http://schemas.openxmlformats.org/officeDocument/2006/relationships/notesMaster" Target="/ppt/notesMasters/notesMaster1.xml" Id="R21df838de08c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5dd34da9724edd" /><Relationship Type="http://schemas.openxmlformats.org/officeDocument/2006/relationships/notesMaster" Target="/ppt/notesMasters/notesMaster1.xml" Id="R67d6e3fec3ca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bd5c1b762444c" /><Relationship Type="http://schemas.openxmlformats.org/officeDocument/2006/relationships/notesMaster" Target="/ppt/notesMasters/notesMaster1.xml" Id="R12b290f8e4a241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856cc30c54394" /><Relationship Type="http://schemas.openxmlformats.org/officeDocument/2006/relationships/notesMaster" Target="/ppt/notesMasters/notesMaster1.xml" Id="R9cbfa20bb9b4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38f41b9fd4835" /><Relationship Type="http://schemas.openxmlformats.org/officeDocument/2006/relationships/notesMaster" Target="/ppt/notesMasters/notesMaster1.xml" Id="Rc17c7023ead0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dad6f8b0944e2b" /><Relationship Type="http://schemas.openxmlformats.org/officeDocument/2006/relationships/notesMaster" Target="/ppt/notesMasters/notesMaster1.xml" Id="Ra707662bcc5542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cf520236d14117" /><Relationship Type="http://schemas.openxmlformats.org/officeDocument/2006/relationships/notesMaster" Target="/ppt/notesMasters/notesMaster1.xml" Id="Rb1a3e6a62445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fc1f1a1c8549f0" /><Relationship Type="http://schemas.openxmlformats.org/officeDocument/2006/relationships/notesMaster" Target="/ppt/notesMasters/notesMaster1.xml" Id="R910de345fc6447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87ceafa0b4497d" /><Relationship Type="http://schemas.openxmlformats.org/officeDocument/2006/relationships/notesMaster" Target="/ppt/notesMasters/notesMaster1.xml" Id="R3e7c09dbfaf446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3b5984913a4a6a" /><Relationship Type="http://schemas.openxmlformats.org/officeDocument/2006/relationships/notesMaster" Target="/ppt/notesMasters/notesMaster1.xml" Id="R49235a0106e941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e298aadf994ff1" /><Relationship Type="http://schemas.openxmlformats.org/officeDocument/2006/relationships/notesMaster" Target="/ppt/notesMasters/notesMaster1.xml" Id="R75ff012654a045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cf6b3047214f65" /><Relationship Type="http://schemas.openxmlformats.org/officeDocument/2006/relationships/notesMaster" Target="/ppt/notesMasters/notesMaster1.xml" Id="R764fb862a7f942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da9288392047bc" /><Relationship Type="http://schemas.openxmlformats.org/officeDocument/2006/relationships/notesMaster" Target="/ppt/notesMasters/notesMaster1.xml" Id="Rb16988110ffe43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52b1ade5584676" /><Relationship Type="http://schemas.openxmlformats.org/officeDocument/2006/relationships/notesMaster" Target="/ppt/notesMasters/notesMaster1.xml" Id="R20ddad8cc2bf4c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fb7ab931ce4649" /><Relationship Type="http://schemas.openxmlformats.org/officeDocument/2006/relationships/notesMaster" Target="/ppt/notesMasters/notesMaster1.xml" Id="Rb93d8e5f38d8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Gartner public abstract, Emerging Tech: Adoption Trends for Generative AI, 28 Jan 2025: https://www.gartner.com/en/documents/6121359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AISHE 2023-24: https://www.pib.gov.in/newsite/erelcontent.aspx?lang=2&amp;reg=48&amp;relid=291005</a:t>
            </a:r>
          </a:p>
          <a:p xmlns:a="http://schemas.openxmlformats.org/drawingml/2006/main">
            <a:r>
              <a:t>AISHE 2021-22 discipline data: https://aishe.gov.in/document/aishe-final-report-2021-22/</a:t>
            </a:r>
          </a:p>
          <a:p xmlns:a="http://schemas.openxmlformats.org/drawingml/2006/main">
            <a:r>
              <a:t>Calculations: TAM 45,000,000 × ₹2,999. SAM 4,632,000 × ₹2,999. SOM 10,000 × ₹2,999. Management PG and Engineering UG counts use AISHE 2021-22 figures. Pricing and adoption targets are team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Competitor product pages: https://about.crunchbase.com/products/crunchbase-pro | https://pitchbook.com/pricing | https://www.cbinsights.com/what-we-offer/pricing/</a:t>
            </a:r>
          </a:p>
          <a:p xmlns:a="http://schemas.openxmlformats.org/drawingml/2006/main">
            <a:r>
              <a:t>Competitive comparison is a positioning assessment based on public product pages, not an independent feature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North Star Metric is a team proposal based on the product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MVP feature scope verified from the local Intelligence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demonstration.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No interview transcripts, survey results or interview counts were supplied. This slide intentionally distinguishes documented user assumptions from future primary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iteration history from the project build conversation and current local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Productboard, Product Prioritization Frameworks: https://www.productboard.com/glossary/product-prioritization-frameworks/</a:t>
            </a:r>
          </a:p>
          <a:p xmlns:a="http://schemas.openxmlformats.org/drawingml/2006/main">
            <a:r>
              <a:t>RICE values are team assumptions, not observed user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Productboard, Product Prioritization Frameworks: https://www.productboard.com/glossary/product-prioritization-frameworks/</a:t>
            </a:r>
          </a:p>
          <a:p xmlns:a="http://schemas.openxmlformats.org/drawingml/2006/main">
            <a:r>
              <a:t>Roadmap timing and outcomes are the team’s planning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targets are pilot hypotheses. Product analytics tools were identified in the team’s handwritten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Go-to-market and pricing are team assumptions. Market-size calculations use the ₹2,999 annual student-plan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fce91e162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7310466b94cf2" /><Relationship Type="http://schemas.openxmlformats.org/officeDocument/2006/relationships/slideLayout" Target="/ppt/slideLayouts/slideLayout1.xml" Id="Rd85ff120842f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ff120842f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b09f0bdad45a5" /><Relationship Type="http://schemas.openxmlformats.org/officeDocument/2006/relationships/notesSlide" Target="/ppt/notesSlides/notesSlide1.xml" Id="R0e1b0201584f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22d9dace24100" /><Relationship Type="http://schemas.openxmlformats.org/officeDocument/2006/relationships/notesSlide" Target="/ppt/notesSlides/notesSlide2.xml" Id="R371887b5b4d349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8f897dd4f49c7" /><Relationship Type="http://schemas.openxmlformats.org/officeDocument/2006/relationships/notesSlide" Target="/ppt/notesSlides/notesSlide3.xml" Id="R44e20637c2d3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c93825b07413c" /><Relationship Type="http://schemas.openxmlformats.org/officeDocument/2006/relationships/notesSlide" Target="/ppt/notesSlides/notesSlide4.xml" Id="Rcb29ab9e84e347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3bcc2d8942ba" /><Relationship Type="http://schemas.openxmlformats.org/officeDocument/2006/relationships/chart" Target="/ppt/slides/charts/chart1.xml" Id="R302035e6f2b544da" /><Relationship Type="http://schemas.openxmlformats.org/officeDocument/2006/relationships/notesSlide" Target="/ppt/notesSlides/notesSlide5.xml" Id="R5ffc5391e64a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184ed1d984241" /><Relationship Type="http://schemas.openxmlformats.org/officeDocument/2006/relationships/notesSlide" Target="/ppt/notesSlides/notesSlide6.xml" Id="R79224eb7a0b040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6b3aafcd4763" /><Relationship Type="http://schemas.openxmlformats.org/officeDocument/2006/relationships/notesSlide" Target="/ppt/notesSlides/notesSlide7.xml" Id="R2eb0d665cef24f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54e63f6c14def" /><Relationship Type="http://schemas.openxmlformats.org/officeDocument/2006/relationships/notesSlide" Target="/ppt/notesSlides/notesSlide8.xml" Id="R7b314044f2ac47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51ef18b1b4764" /><Relationship Type="http://schemas.openxmlformats.org/officeDocument/2006/relationships/notesSlide" Target="/ppt/notesSlides/notesSlide9.xml" Id="R62961caaab9048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16d4511c840bb" /><Relationship Type="http://schemas.openxmlformats.org/officeDocument/2006/relationships/notesSlide" Target="/ppt/notesSlides/notesSlide10.xml" Id="R2adc75e2f78d41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22a2416741f8" /><Relationship Type="http://schemas.openxmlformats.org/officeDocument/2006/relationships/notesSlide" Target="/ppt/notesSlides/notesSlide11.xml" Id="Rf456a70b040b48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cbb6329634633" /><Relationship Type="http://schemas.openxmlformats.org/officeDocument/2006/relationships/notesSlide" Target="/ppt/notesSlides/notesSlide12.xml" Id="R4fac92268f0249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f9311e5314eb9" /><Relationship Type="http://schemas.openxmlformats.org/officeDocument/2006/relationships/notesSlide" Target="/ppt/notesSlides/notesSlide13.xml" Id="Ra996fbd6574747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ff84589804910" /><Relationship Type="http://schemas.openxmlformats.org/officeDocument/2006/relationships/notesSlide" Target="/ppt/notesSlides/notesSlide14.xml" Id="R8d53b1d19ce246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5acff18894dbf" /><Relationship Type="http://schemas.openxmlformats.org/officeDocument/2006/relationships/notesSlide" Target="/ppt/notesSlides/notesSlide15.xml" Id="R63eca452f296487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 potential in ₹ crore</c:v>
          </c:tx>
          <c:spPr>
            <a:solidFill xmlns:a="http://schemas.openxmlformats.org/drawingml/2006/main">
              <a:srgbClr val="4767D8"/>
            </a:solidFill>
          </c:spPr>
          <c:cat>
            <c:strLit>
              <c:ptCount val="3"/>
              <c:pt idx="0">
                <c:v>TAM</c:v>
              </c:pt>
              <c:pt idx="1">
                <c:v>SAM</c:v>
              </c:pt>
              <c:pt idx="2">
                <c:v>SOM</c:v>
              </c:pt>
            </c:strLit>
          </c:cat>
          <c:val>
            <c:numLit>
              <c:formatCode>General</c:formatCode>
              <c:ptCount val="3"/>
              <c:pt idx="0">
                <c:v>13496</c:v>
              </c:pt>
              <c:pt idx="1">
                <c:v>1389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₹ crore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348DC-9974-478C-B03E-B2363B6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2785-4166-420E-A436-E63497A8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954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B9C9C-9BB2-44EF-B178-E12F7A2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Personal market intelligence for students and aspiring founders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B24BC-C1C5-41E0-BD68-7571749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Outclass Project | Product strategy, market opportunity, MVP and launch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0BA8E-96F5-42FE-B2F5-A89180A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CDD3B-B68E-4113-94BC-AEAE99E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A 7 minute presentation with a local MVP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1D8BA-5F46-40DC-A037-A9F4AE6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02454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4E869-BAD1-436D-9B22-A7658EE6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4D99-A7BD-4919-86F2-5BF983E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0C59A-B671-4CBA-ABFD-B44FF77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3A69-CA78-4299-821B-B8AB2C5C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Students research emerging sectors through a scattered set of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E4834-E09B-47B0-A6E2-A9DE4EF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20FB2-A715-435D-97B6-AE41C55B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AED30-00F1-4CAA-9141-F706F784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Fragmented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04DBA-7221-42CE-B61E-AD30E46A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Students move between search engines, X, LinkedIn, YouTube, VC blogs and company sites. Each source provides a piece of the picture.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14B54-1E43-4A20-993A-5F863009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03E76-EF6C-41BF-86A6-B9A0C5BC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Manual synthesis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29522-6B72-4587-81DF-C07B557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The work of connecting funding, products, investor behaviour and market shifts takes time. Repeating it every week is difficult.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F5118-B731-4185-ACF4-244574D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3F369-EBB9-4E76-9DC5-59E4E82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Missing opportunity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A672E-1E75-4DD0-9FA4-52D3EE2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News feeds and company databases show events. Students still need help understanding recurring patterns and deciding what to investigate.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ACFB3-01E8-4520-BA55-640BA080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Initial use case: Masters’ Union students completing ecosystem-analysis assignments and exploring founder ideas.</a:t>
            </a:r>
          </a:p>
        </p:txBody>
      </p:sp>
    </p:spTree>
    <p:extLst>
      <p:ext uri="{BB962C8B-B14F-4D97-AF65-F5344CB8AC3E}">
        <p14:creationId xmlns:p14="http://schemas.microsoft.com/office/powerpoint/2010/main" val="1142729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B8A4A-C614-44DE-962A-5504BC25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40E87-4F61-444D-859F-8811C4C3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User persona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D088F-D941-40EB-AFF1-4A6CABD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ABC0-674F-4AD2-BC56-EDAD720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Aarav represents the first user segment.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A0000-0A61-4C4F-BC0F-CE2B392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39898-0190-4E64-9245-154FBFDA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Aarav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0676-2039-4F06-815E-0F18442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22 years old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Masters’ Union student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Aspiring 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30A78-9579-40F3-8913-C2DDA1E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E513-EAF1-4DC1-B216-47A4E84D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Current behaviour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F1BFC-D1CA-41F9-8B4F-EC0FC39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47925"/>
            <a:ext cx="27432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Follows founders, tracks funding, reads articles and watches podcasts. He has many inputs but no consistent view of the market.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0CC0D-D1EF-44A7-B6C7-053B785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9A8A-EB1F-47F8-9237-8AEB3350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Job to be 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F6B0-B102-4F76-98EE-661A16BF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27432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Help me understand what is changing in a chosen sector and show me which opportunity deserves my next hour of research.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37EBF-591D-42D9-9ABF-3C986E3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071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Success for Aarav: he can move from a market event to evidence, a pattern and a research question without building a manual spreadsheet.</a:t>
            </a:r>
          </a:p>
        </p:txBody>
      </p:sp>
    </p:spTree>
    <p:extLst>
      <p:ext uri="{BB962C8B-B14F-4D97-AF65-F5344CB8AC3E}">
        <p14:creationId xmlns:p14="http://schemas.microsoft.com/office/powerpoint/2010/main" val="1026513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89289-33BB-4946-8E31-95DB2AF0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096D5-B194-46B3-8900-D953B07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A6DCA-A5C7-4994-8C18-E84F1DC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A7A03-DAA2-4D9B-A84A-9CA1A945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need is growing for domain-specific knowledge and a human check on AI-generated conclusions.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B11D-455B-4328-BDD3-FCA6FED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4C531-931B-4522-B7EB-205E99E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484D0-3F49-4E66-8CAF-2C21F92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Domain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33347-05C2-4501-BC0E-3FC88856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505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Gartner’s public GenAI adoption research identifies domain-specific knowledge management and agentic assistants as drivers of adoption over the next three years.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B9FEC-78D2-46F7-A192-A77C724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6FC07-E101-4D91-A674-AE70D7C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955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Human judgment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55B0C-E8AE-49B0-A6E6-747FA354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95550"/>
            <a:ext cx="4505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A personal intelligence product should retain source lineage, show counter-evidence and let the student decide what to explore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31380-1C3E-4EB0-A877-7383E8F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09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implication: start with a narrow domain and evidence-backed workflows before expanding across sectors.</a:t>
            </a:r>
          </a:p>
        </p:txBody>
      </p:sp>
    </p:spTree>
    <p:extLst>
      <p:ext uri="{BB962C8B-B14F-4D97-AF65-F5344CB8AC3E}">
        <p14:creationId xmlns:p14="http://schemas.microsoft.com/office/powerpoint/2010/main" val="2009482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F7503-6C32-4D66-A16A-110D44A7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B6AC-DA41-46D6-92E3-8CC9E84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Market sizing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E2DAF-253D-4BAA-92FB-E0F473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88C11-3FDE-467A-8E1B-6DD2AEC0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Annual subscription opportunity in India. Pricing and capture values are planning assumptions.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7FDCC-7299-4621-BCAE-159741A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952500" y="2047875"/>
          <a:ext xmlns:a="http://schemas.openxmlformats.org/drawingml/2006/main" cx="571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035e6f2b544d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DFEED-02F7-460E-9805-B93A944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4.50 crore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BB05D-F137-45D7-BC24-73F00246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06F0A-5252-43FD-8CD9-1947DB4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908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All higher-education students in India × ₹2,999 annual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17E53-23CA-4E62-8DE8-E621F975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8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D8D70"/>
                </a:solidFill>
                <a:latin typeface="Helvetica Neue"/>
                <a:ea typeface="Helvetica Neue"/>
                <a:cs typeface="Helvetica Neue"/>
              </a:rPr>
              <a:t>46.32 lakh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8CBA-A0C7-4DEA-A44D-CF1520D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F3B3C-A38E-47FD-AEEA-96A1FC1B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Management PG plus Engineering and Technology UG students × ₹2,999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EF7E5-DA54-4BF2-9999-01E189C8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8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88422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1DA58-7B89-4FFB-B468-73F61F1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F80F3-A782-4897-A177-28D46DC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Three-year campus-pilot target. 25 cohorts × 400 paid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DBEC4-0DAE-4372-90E0-B33DA8A9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TAM: ₹13,496 crore | SAM: ₹1,389 crore | SOM: ₹3.0 crore annual recurring revenue</a:t>
            </a:r>
          </a:p>
        </p:txBody>
      </p:sp>
    </p:spTree>
    <p:extLst>
      <p:ext uri="{BB962C8B-B14F-4D97-AF65-F5344CB8AC3E}">
        <p14:creationId xmlns:p14="http://schemas.microsoft.com/office/powerpoint/2010/main" val="2067770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FA86F-2836-45D7-97BC-9B6D503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9C313-C665-45C9-84F4-9DC2ACBE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Competitive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CA9D5-8DD1-4F83-BD34-C9ED5112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4C6FD-DB6A-4039-BB74-1D7A808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Existing tools are strong at data access. Intelligence adds an evidence-led student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FAF4-3589-409A-BFE9-3B46E6E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190750"/>
                <a:gridCol w="1095375"/>
                <a:gridCol w="1238250"/>
                <a:gridCol w="1571625"/>
                <a:gridCol w="1381125"/>
                <a:gridCol w="1619250"/>
              </a:tblGrid>
              <a:tr h="48305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strength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Startup data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Investor thesis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Patterns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Intelligence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Personal market research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PitchBook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market data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CB Insights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Enterprise market intelligence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Tracxn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Startup intelligence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Dealroom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Ecosystem tracking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Crunchbase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Company database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28361-D870-4D62-ACBC-939E4A96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Feature comparison based on public product positioning. “Limited” means the feature exists in a narrower or enterprise-focused form.</a:t>
            </a:r>
          </a:p>
        </p:txBody>
      </p:sp>
    </p:spTree>
    <p:extLst>
      <p:ext uri="{BB962C8B-B14F-4D97-AF65-F5344CB8AC3E}">
        <p14:creationId xmlns:p14="http://schemas.microsoft.com/office/powerpoint/2010/main" val="1451058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916D8-2A9F-4BC6-9EB4-ABA4247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55710-5BE2-4344-9971-8CDB46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hypothesis and value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20673-4DD0-4439-B5B8-54663D0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3922D-68FC-47E9-85D8-E6731122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Students will return when intelligence turns market activity into a traceable research thread.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AD3DF-C227-471B-8402-E1836EFA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ABFE5-7E09-4454-B30D-1C9C33C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6DFDF-33C4-459F-9DC8-B66135DC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46BE5-F2C2-4ED7-9B0C-B468868B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If a student chooses a domain and receives source-backed signals, pattern context and an investigation path, they will save time and develop stronger market theses.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C518E-7D31-47FF-8A92-7D31F681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D21F2-C0E2-41C4-93D4-7F1A68F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8737-4F82-4E86-91B0-3E2ABA8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One workspace connects investment activity, evidence, signals, patterns and hypotheses. The user can follow the trail instead of collecting links across tabs.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D1C55-E9CC-4B12-94AC-C9E019B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25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North Star Metric: weekly active users who open an intelligence item and then save, share or investigate it further.</a:t>
            </a:r>
          </a:p>
        </p:txBody>
      </p:sp>
    </p:spTree>
    <p:extLst>
      <p:ext uri="{BB962C8B-B14F-4D97-AF65-F5344CB8AC3E}">
        <p14:creationId xmlns:p14="http://schemas.microsoft.com/office/powerpoint/2010/main" val="340570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A3C10-1105-4D5C-85BC-5C67E86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CF2A-6F6C-4D89-BC34-92DF96D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Solution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AD3FD-71EF-4BED-ACAC-E93111A9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243A2-0FAD-481D-BD54-4BF24C9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 personal intelligence flow from domain selection to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4E031-BD42-4F4A-8555-00BAF63D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F7BF3-7EB5-4317-9FD5-6B2CCAB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Choose 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8393C-91F7-4ACF-8F9A-6362358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Receive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3CBE5-8637-43C2-86EA-185233C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Read the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6010B-5573-4A02-9E04-9225F1F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Track patterns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CC160-E023-4427-B761-82B8ED7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A0A76-8EB9-46F5-93BE-904028D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54E08-9764-484A-B91C-82B1020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A013F-2B1D-4E09-BC2A-27549CEE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10F1A-49C0-48BC-B363-89E4F2C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AI domains, topics and geography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CFEF6-EDFF-453C-8D99-64A503C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Funding, product and research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1F67D-74F5-4C4E-AADE-1EE9DD7D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External sources and counter-evidence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3A7DC-1597-4BD4-8369-5DF7B82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Recurring market relationships and hypotheses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44B4F-F017-4089-B7DA-A0D9B1F4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The MVP also includes company investment pages, a saved-intelligence library, a seven-day timeline and a profile that stores user preferences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721459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6B8C2-412E-4EEA-94BE-3E75997F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C7617-D88D-47C1-9623-FE8E96A5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Functional MVP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E52A4-20B6-433C-BC25-D86021CE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B76BF-18D6-4155-A7B5-0F9069B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product runs locally and the demo follows the research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93D83-D2F7-4234-BB43-F69CA7B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2047875"/>
          <a:ext xmlns:a="http://schemas.openxmlformats.org/drawingml/2006/main" cx="10096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428875"/>
                <a:gridCol w="676275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show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/login and /signup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account entry points and first-time profile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/onboarding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 selection before the workspace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/workspace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Signals, pattern context and market overview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/investments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Cross-domain funding comparison and company details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/signals/[id] and /library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links, save action and saved-item return path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/admin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operational preview and backend-ready admin views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26854-76B3-4D8C-B225-91288D2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Demo time: 60 to 75 seconds. Use the local server already running on the presenter’s laptop.</a:t>
            </a:r>
          </a:p>
        </p:txBody>
      </p:sp>
    </p:spTree>
    <p:extLst>
      <p:ext uri="{BB962C8B-B14F-4D97-AF65-F5344CB8AC3E}">
        <p14:creationId xmlns:p14="http://schemas.microsoft.com/office/powerpoint/2010/main" val="1545028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B1183-A836-47E6-B55F-302CE395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76A58-DA80-4199-B1C2-A97114C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Customer discovery and interview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8473-A0AB-4016-826F-CA3C642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11F63-A492-49F5-B085-971198B0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supplied project file documents the user problem but contains no primary-interview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2F636-487C-49B2-895C-B74C6930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CE40F-DDF6-43AD-A1B1-E6FFC0E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546DA-209B-429D-A721-DC2A92C4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Evidence available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931B7-B3A9-4032-BDE7-44A6DCAE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4577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The project document defines the student and aspiring founder persona, their fragmented research workflow and the need for continuous domain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42D19-31B5-410A-B70D-70F148F8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61EF4-7D63-4BB4-AA43-B76F8169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Interview sprint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1B9CB-1973-4447-988C-1A83D87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44577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Interview 5 Masters’ Union students and 3 aspiring founders. Ask about their current research stack, time spent, trust in AI summaries and willingness to pay.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88F0B-E77B-49C5-8FA8-85E6F289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Decision rule: move from prototype to pilot when at least 5 of 8 participants complete a research task and state that the workflow would replace part of their current manual process.</a:t>
            </a:r>
          </a:p>
        </p:txBody>
      </p:sp>
    </p:spTree>
    <p:extLst>
      <p:ext uri="{BB962C8B-B14F-4D97-AF65-F5344CB8AC3E}">
        <p14:creationId xmlns:p14="http://schemas.microsoft.com/office/powerpoint/2010/main" val="446585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2B9E-8591-49FE-94C5-41E464E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7B36B-34A2-48B6-BA5E-BD4D9E1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Feedback incorporated into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BB410-66FF-4912-8301-2964F36E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21352-2B9D-4EAC-AE2B-1A43964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current build reflects decisions made during product iteration.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BB31A-25E5-41B8-B08A-62E0EB3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62500"/>
                <a:gridCol w="3524250"/>
              </a:tblGrid>
              <a:tr h="6111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 or need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Prototype response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in MVP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 flow should begin with login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Root route directs users to login. Sign-up and login use separate pages.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Login, sign-up and onboarding routes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 choice belongs after sign-up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First-time profile leads into domain selection before workspace entry.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 and onboarding routes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work should remain accessible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Signals, patterns and hypotheses support save actions and return paths in Saved Intelligence.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Library and action controls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 comparison needs a clear graph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Six-domain investment chart and company detail pages support the capital-flow question.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Investments and company routes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data needs a safe view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admin screen uses safe fields and RLS-ready view definitions.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 route and migration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91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FAFBC-EAA2-406C-B07D-EB28E29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5FD12-288C-49E6-AEE3-BA6DC51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Prioritization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7726-C066-449E-8A4D-6242F0A6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F74DA-1960-4464-89B4-AB1D5367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RICE ranks the next product decisions. MoSCoW protects the MVP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37028-AC97-46F4-A70F-B7A139C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6902C-86FB-470D-B2D1-135B06F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RICE score = Reach × Impact × Confidence ÷ Effort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2FAB7-7849-4595-93E5-02CB3253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Productboard describes RICE as an objective scoring system and MoSCoW as a way to communicate release inclusion.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14375" y="3143250"/>
          <a:ext xmlns:a="http://schemas.openxmlformats.org/drawingml/2006/main" cx="61912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62000"/>
                <a:gridCol w="857250"/>
                <a:gridCol w="1000125"/>
                <a:gridCol w="809625"/>
                <a:gridCol w="762000"/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Reach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Impact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Confidence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Effort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Onboarding and domain selection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6.0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 and personalize intelligence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 tracker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Pattern and hypothesis layer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 control panel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0E6F9-CF87-4AF1-B857-B8561C51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571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FB60F-B693-4020-950C-4B9B9B5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MoSCoW MVP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35C28-5EE8-496C-B3FB-4D6A44CC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838450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Must have: sign-up, domain selection, signals, evidence links, saved items and investment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Should have: personalisation and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Could have: admin preview.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Later: full validation engine and billing.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FF2DD-443E-4ADD-96D1-710D899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Scores are team assumptions for relative sequencing and should be recalibrated after primary interviews.</a:t>
            </a:r>
          </a:p>
        </p:txBody>
      </p:sp>
    </p:spTree>
    <p:extLst>
      <p:ext uri="{BB962C8B-B14F-4D97-AF65-F5344CB8AC3E}">
        <p14:creationId xmlns:p14="http://schemas.microsoft.com/office/powerpoint/2010/main" val="15392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D4782-158E-40FF-B895-897B9E09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65AEA-42F1-4FDB-AD30-65980CFB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92772-BBDB-4479-828E-34E71040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FD03B-AAF4-4AED-B09A-AA2748C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roadmap moves from a usable research flow to a trusted campus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B7733-0FED-4CC7-8F29-E3C2998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52500" y="2000250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809750"/>
                <a:gridCol w="66675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Phase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Login, onboarding, workspace, investment view, saved intelligence and local MVP demo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Trust and persistence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1 to 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Supabase Auth, profile persistence, workspace isolation and real saved items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intelligence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5 to 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n8n research integration, source lineage, backfill and seven-day patterns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Campus pilot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9 to 12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 cohorts, interview feedback, activation tracking and student pricing tests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Expansion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pilot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domains, validation workflow and institution partnerships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CC7FF-D550-4F8E-8618-AB08512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Priority order follows RICE and the evidence needed to validate repeat use.</a:t>
            </a:r>
          </a:p>
        </p:txBody>
      </p:sp>
    </p:spTree>
    <p:extLst>
      <p:ext uri="{BB962C8B-B14F-4D97-AF65-F5344CB8AC3E}">
        <p14:creationId xmlns:p14="http://schemas.microsoft.com/office/powerpoint/2010/main" val="756529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E7AA7-8389-436A-8798-FB9C2F23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78304-009A-4134-8830-E23C6D10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Success criteria and KPIs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917FB-9BF1-49A3-A973-E4F1A22A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09CDE-CA2B-481E-9A06-C70BD8DE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Metrics connect adoption, research quality and user satisfaction.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B88C6-1CBB-4E27-A9EA-3C61437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857875"/>
                <a:gridCol w="3095625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target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North Star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Weekly active users who open and then save, share or investigate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40% of activated pilot users by week 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Activation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Users who choose a domain and open their first intelligence item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60% within first session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Retention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Users returning weekly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30% in week 4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quality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item opens that lead to an evidence view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 of saved-item sessions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Satisfaction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CSAT after a completed research task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4.0 out of 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Advocacy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NPS after four weeks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Positive score and qualitative reasons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Pipeline health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Daily brief freshness and source coverage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source cutoff on every brief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2114-43C6-418A-AA0E-D28374A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Instrument the MVP with PostHog, Mixpanel, Amplitude or Google Analytics after consent and privacy requirements are defined.</a:t>
            </a:r>
          </a:p>
        </p:txBody>
      </p:sp>
    </p:spTree>
    <p:extLst>
      <p:ext uri="{BB962C8B-B14F-4D97-AF65-F5344CB8AC3E}">
        <p14:creationId xmlns:p14="http://schemas.microsoft.com/office/powerpoint/2010/main" val="19517651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994C7-6715-40ED-A43A-D12835F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3A43F-6C9F-4FDE-9F91-7C622E7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Go-to-market and monetization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F9303-3333-4E21-BF9A-56DEFB32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3E391-6E61-4C7B-88E9-1EF835E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Start with a narrow campus use case, prove repeat research behaviour, then expand by domain.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694E5-014E-4D6C-900A-2F39F0E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7DD30-7229-4CD2-B416-5B9B676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BFB57-9E0E-4842-8EE6-E475060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FFBA5-311E-4DC1-81D5-AA1FEE5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Masters’ Union courses and clubs that require ecosystem research. Run a guided pilot through faculty, student communities and founder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40B85-7501-4DA0-8921-35CE784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A8F2E-7490-407E-B772-0DF0D6B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Acquisition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B08B7-92CD-4BF4-BD82-F444B57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Use a free weekly AI brief as the entry point. Convert engaged users through domain tracking, saved research and company-investigation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BDFBC-D1DC-4CD0-B3CA-3401955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9CC42-A262-4292-AA94-F1054D6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44E17-CEC2-40F3-BCDA-A2464DD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Freemium access to the daily brief. Student plan at ₹2,999 per year. Institution pilots and cohort licenses follow after repeat use is proven.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82AC3-C003-4379-B344-EE84951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5559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Close with the local demo: choose a domain, inspect investment movement, open evidence and save an item for the next research session.</a:t>
            </a:r>
          </a:p>
        </p:txBody>
      </p:sp>
    </p:spTree>
    <p:extLst>
      <p:ext uri="{BB962C8B-B14F-4D97-AF65-F5344CB8AC3E}">
        <p14:creationId xmlns:p14="http://schemas.microsoft.com/office/powerpoint/2010/main" val="270813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2026-09-29T00:11:18.8250000Z</dcterms:created>
  <dcterms:modified xsi:type="dcterms:W3CDTF">2026-09-29T00:11:18.8250000Z</dcterms:modified>
</coreProperties>
</file>