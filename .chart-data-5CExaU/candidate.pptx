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729facf12a4267" /><Relationship Type="http://schemas.openxmlformats.org/officeDocument/2006/relationships/extended-properties" Target="/docProps/app.xml" Id="Rbb1fd8453335424b" /><Relationship Type="http://schemas.openxmlformats.org/officeDocument/2006/relationships/officeDocument" Target="/ppt/presentation.xml" Id="R59699f4545024f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090d7bf078419d"/>
  </p:sldMasterIdLst>
  <p:notesMasterIdLst>
    <p:notesMasterId xmlns:r="http://schemas.openxmlformats.org/officeDocument/2006/relationships" r:id="Rf41fc40ad8bd4e8b"/>
  </p:notesMasterIdLst>
  <p:sldIdLst>
    <p:sldId xmlns:r="http://schemas.openxmlformats.org/officeDocument/2006/relationships" id="256" r:id="R2ede4acfe45e4acb"/>
    <p:sldId xmlns:r="http://schemas.openxmlformats.org/officeDocument/2006/relationships" id="257" r:id="R7ce8a7a886f9499b"/>
    <p:sldId xmlns:r="http://schemas.openxmlformats.org/officeDocument/2006/relationships" id="258" r:id="R935c416af5934433"/>
    <p:sldId xmlns:r="http://schemas.openxmlformats.org/officeDocument/2006/relationships" id="259" r:id="R714c8246be4b4471"/>
    <p:sldId xmlns:r="http://schemas.openxmlformats.org/officeDocument/2006/relationships" id="260" r:id="Rce1aa591506f4297"/>
    <p:sldId xmlns:r="http://schemas.openxmlformats.org/officeDocument/2006/relationships" id="261" r:id="R61ffd938047a41b5"/>
    <p:sldId xmlns:r="http://schemas.openxmlformats.org/officeDocument/2006/relationships" id="262" r:id="Rb1c6e74c7e6d41ed"/>
    <p:sldId xmlns:r="http://schemas.openxmlformats.org/officeDocument/2006/relationships" id="263" r:id="Re613615d80154d3c"/>
    <p:sldId xmlns:r="http://schemas.openxmlformats.org/officeDocument/2006/relationships" id="264" r:id="Rb674e5b9d9724af5"/>
    <p:sldId xmlns:r="http://schemas.openxmlformats.org/officeDocument/2006/relationships" id="265" r:id="Rb0d89ab3b7764960"/>
    <p:sldId xmlns:r="http://schemas.openxmlformats.org/officeDocument/2006/relationships" id="266" r:id="R5dc14884469b472f"/>
    <p:sldId xmlns:r="http://schemas.openxmlformats.org/officeDocument/2006/relationships" id="267" r:id="R61f4497f92c14f2e"/>
    <p:sldId xmlns:r="http://schemas.openxmlformats.org/officeDocument/2006/relationships" id="268" r:id="R900b7a0180c0444a"/>
    <p:sldId xmlns:r="http://schemas.openxmlformats.org/officeDocument/2006/relationships" id="269" r:id="Rb949d458de754062"/>
    <p:sldId xmlns:r="http://schemas.openxmlformats.org/officeDocument/2006/relationships" id="270" r:id="R9bb367ec3d4b47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244783ddca4044" /><Relationship Type="http://schemas.openxmlformats.org/officeDocument/2006/relationships/slideMaster" Target="/ppt/slideMasters/slideMaster1.xml" Id="Ree090d7bf078419d" /><Relationship Type="http://schemas.openxmlformats.org/officeDocument/2006/relationships/notesMaster" Target="/ppt/notesMasters/notesMaster1.xml" Id="Rf41fc40ad8bd4e8b" /><Relationship Type="http://schemas.openxmlformats.org/officeDocument/2006/relationships/presProps" Target="/ppt/presProps.xml" Id="R274acac297424aa5" /><Relationship Type="http://schemas.openxmlformats.org/officeDocument/2006/relationships/tableStyles" Target="/ppt/tableStyles.xml" Id="R1f0be2030b514ca1" /><Relationship Type="http://schemas.openxmlformats.org/officeDocument/2006/relationships/slide" Target="/ppt/slides/slide1.xml" Id="R2ede4acfe45e4acb" /><Relationship Type="http://schemas.openxmlformats.org/officeDocument/2006/relationships/slide" Target="/ppt/slides/slide2.xml" Id="R7ce8a7a886f9499b" /><Relationship Type="http://schemas.openxmlformats.org/officeDocument/2006/relationships/slide" Target="/ppt/slides/slide3.xml" Id="R935c416af5934433" /><Relationship Type="http://schemas.openxmlformats.org/officeDocument/2006/relationships/slide" Target="/ppt/slides/slide4.xml" Id="R714c8246be4b4471" /><Relationship Type="http://schemas.openxmlformats.org/officeDocument/2006/relationships/slide" Target="/ppt/slides/slide5.xml" Id="Rce1aa591506f4297" /><Relationship Type="http://schemas.openxmlformats.org/officeDocument/2006/relationships/slide" Target="/ppt/slides/slide6.xml" Id="R61ffd938047a41b5" /><Relationship Type="http://schemas.openxmlformats.org/officeDocument/2006/relationships/slide" Target="/ppt/slides/slide7.xml" Id="Rb1c6e74c7e6d41ed" /><Relationship Type="http://schemas.openxmlformats.org/officeDocument/2006/relationships/slide" Target="/ppt/slides/slide8.xml" Id="Re613615d80154d3c" /><Relationship Type="http://schemas.openxmlformats.org/officeDocument/2006/relationships/slide" Target="/ppt/slides/slide9.xml" Id="Rb674e5b9d9724af5" /><Relationship Type="http://schemas.openxmlformats.org/officeDocument/2006/relationships/slide" Target="/ppt/slides/slide10.xml" Id="Rb0d89ab3b7764960" /><Relationship Type="http://schemas.openxmlformats.org/officeDocument/2006/relationships/slide" Target="/ppt/slides/slide11.xml" Id="R5dc14884469b472f" /><Relationship Type="http://schemas.openxmlformats.org/officeDocument/2006/relationships/slide" Target="/ppt/slides/slide12.xml" Id="R61f4497f92c14f2e" /><Relationship Type="http://schemas.openxmlformats.org/officeDocument/2006/relationships/slide" Target="/ppt/slides/slide13.xml" Id="R900b7a0180c0444a" /><Relationship Type="http://schemas.openxmlformats.org/officeDocument/2006/relationships/slide" Target="/ppt/slides/slide14.xml" Id="Rb949d458de754062" /><Relationship Type="http://schemas.openxmlformats.org/officeDocument/2006/relationships/slide" Target="/ppt/slides/slide15.xml" Id="R9bb367ec3d4b47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7fadce721949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254075826a4e58" /><Relationship Type="http://schemas.openxmlformats.org/officeDocument/2006/relationships/notesMaster" Target="/ppt/notesMasters/notesMaster1.xml" Id="R80a93b836ef040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08fe8949164f0b" /><Relationship Type="http://schemas.openxmlformats.org/officeDocument/2006/relationships/notesMaster" Target="/ppt/notesMasters/notesMaster1.xml" Id="Re95b3846f28547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76676614894511" /><Relationship Type="http://schemas.openxmlformats.org/officeDocument/2006/relationships/notesMaster" Target="/ppt/notesMasters/notesMaster1.xml" Id="R1ddc7aeb734447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0e0f4192a4079" /><Relationship Type="http://schemas.openxmlformats.org/officeDocument/2006/relationships/notesMaster" Target="/ppt/notesMasters/notesMaster1.xml" Id="R122cc5579e484d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2daf430afb4a5e" /><Relationship Type="http://schemas.openxmlformats.org/officeDocument/2006/relationships/notesMaster" Target="/ppt/notesMasters/notesMaster1.xml" Id="Rb37697a5f77343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2b9c1000864fce" /><Relationship Type="http://schemas.openxmlformats.org/officeDocument/2006/relationships/notesMaster" Target="/ppt/notesMasters/notesMaster1.xml" Id="R030e4298c9754e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1a5874a244cb4" /><Relationship Type="http://schemas.openxmlformats.org/officeDocument/2006/relationships/notesMaster" Target="/ppt/notesMasters/notesMaster1.xml" Id="Re00d212b3be043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7c3a82d0a045be" /><Relationship Type="http://schemas.openxmlformats.org/officeDocument/2006/relationships/notesMaster" Target="/ppt/notesMasters/notesMaster1.xml" Id="R370202585fea40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ece461cc484cd6" /><Relationship Type="http://schemas.openxmlformats.org/officeDocument/2006/relationships/notesMaster" Target="/ppt/notesMasters/notesMaster1.xml" Id="Rdaa02e2a98984e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71f43a18e148c2" /><Relationship Type="http://schemas.openxmlformats.org/officeDocument/2006/relationships/notesMaster" Target="/ppt/notesMasters/notesMaster1.xml" Id="R0b3994b0f9934b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e5b77b0468430e" /><Relationship Type="http://schemas.openxmlformats.org/officeDocument/2006/relationships/notesMaster" Target="/ppt/notesMasters/notesMaster1.xml" Id="Rf58d56eaced641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c6792a786d4a50" /><Relationship Type="http://schemas.openxmlformats.org/officeDocument/2006/relationships/notesMaster" Target="/ppt/notesMasters/notesMaster1.xml" Id="R0695efec9fc547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7ec526717246da" /><Relationship Type="http://schemas.openxmlformats.org/officeDocument/2006/relationships/notesMaster" Target="/ppt/notesMasters/notesMaster1.xml" Id="Rea9e83fa70494c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1f1ccd127148ec" /><Relationship Type="http://schemas.openxmlformats.org/officeDocument/2006/relationships/notesMaster" Target="/ppt/notesMasters/notesMaster1.xml" Id="R48b5018a71184c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c630f6b2b44826" /><Relationship Type="http://schemas.openxmlformats.org/officeDocument/2006/relationships/notesMaster" Target="/ppt/notesMasters/notesMaster1.xml" Id="Reb54d312806f44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Gartner public abstract, Emerging Tech: Adoption Trends for Generative AI, 28 Jan 2025: https://www.gartner.com/en/documents/6121359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AISHE 2023-24: https://www.pib.gov.in/newsite/erelcontent.aspx?lang=2&amp;reg=48&amp;relid=291005</a:t>
            </a:r>
          </a:p>
          <a:p xmlns:a="http://schemas.openxmlformats.org/drawingml/2006/main">
            <a:r>
              <a:t>AISHE 2021-22 discipline data: https://aishe.gov.in/document/aishe-final-report-2021-22/</a:t>
            </a:r>
          </a:p>
          <a:p xmlns:a="http://schemas.openxmlformats.org/drawingml/2006/main">
            <a:r>
              <a:t>Calculations: TAM 45,000,000 × ₹2,999. SAM 4,632,000 × ₹2,999. SOM 10,000 × ₹2,999. Management PG and Engineering UG counts use AISHE 2021-22 figures. Pricing and adoption targets are team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Competitor product pages: https://about.crunchbase.com/products/crunchbase-pro | https://pitchbook.com/pricing | https://www.cbinsights.com/what-we-offer/pricing/</a:t>
            </a:r>
          </a:p>
          <a:p xmlns:a="http://schemas.openxmlformats.org/drawingml/2006/main">
            <a:r>
              <a:t>Competitive comparison is a positioning assessment based on public product pages, not an independent feature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  <a:p xmlns:a="http://schemas.openxmlformats.org/drawingml/2006/main">
            <a:r>
              <a:t>North Star Metric is a team proposal based on the product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  <a:p xmlns:a="http://schemas.openxmlformats.org/drawingml/2006/main">
            <a:r>
              <a:t>MVP feature scope verified from the local Intelligence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product demonstration.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  <a:p xmlns:a="http://schemas.openxmlformats.org/drawingml/2006/main">
            <a:r>
              <a:t>No interview transcripts, survey results or interview counts were supplied. This slide intentionally distinguishes documented user assumptions from future primary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iteration history from the project build conversation and current local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Productboard, Product Prioritization Frameworks: https://www.productboard.com/glossary/product-prioritization-frameworks/</a:t>
            </a:r>
          </a:p>
          <a:p xmlns:a="http://schemas.openxmlformats.org/drawingml/2006/main">
            <a:r>
              <a:t>RICE values are team assumptions, not observed user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Productboard, Product Prioritization Frameworks: https://www.productboard.com/glossary/product-prioritization-frameworks/</a:t>
            </a:r>
          </a:p>
          <a:p xmlns:a="http://schemas.openxmlformats.org/drawingml/2006/main">
            <a:r>
              <a:t>Roadmap timing and outcomes are the team’s planning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targets are pilot hypotheses. Product analytics tools were identified in the team’s handwritten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Go-to-market and pricing are team assumptions. Market-size calculations use the ₹2,999 annual student-plan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4486b2fa446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657870710d4639" /><Relationship Type="http://schemas.openxmlformats.org/officeDocument/2006/relationships/slideLayout" Target="/ppt/slideLayouts/slideLayout1.xml" Id="Rfa8e0fcb95c3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8e0fcb95c3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de92d990c4ee7" /><Relationship Type="http://schemas.openxmlformats.org/officeDocument/2006/relationships/notesSlide" Target="/ppt/notesSlides/notesSlide1.xml" Id="Rdeab4c79fe17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a9f05b7874096" /><Relationship Type="http://schemas.openxmlformats.org/officeDocument/2006/relationships/notesSlide" Target="/ppt/notesSlides/notesSlide2.xml" Id="Rb519ec45139848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0aa861ab6485a" /><Relationship Type="http://schemas.openxmlformats.org/officeDocument/2006/relationships/notesSlide" Target="/ppt/notesSlides/notesSlide3.xml" Id="Re96140b2b1f04a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92fb898414a5b" /><Relationship Type="http://schemas.openxmlformats.org/officeDocument/2006/relationships/notesSlide" Target="/ppt/notesSlides/notesSlide4.xml" Id="Rf19291d5eefc4b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3e1ac7f7146a2" /><Relationship Type="http://schemas.openxmlformats.org/officeDocument/2006/relationships/chart" Target="/ppt/slides/charts/chart1.xml" Id="Raf7348f71f074955" /><Relationship Type="http://schemas.openxmlformats.org/officeDocument/2006/relationships/notesSlide" Target="/ppt/notesSlides/notesSlide5.xml" Id="R8544ad9061c54c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ad20314d0406e" /><Relationship Type="http://schemas.openxmlformats.org/officeDocument/2006/relationships/notesSlide" Target="/ppt/notesSlides/notesSlide6.xml" Id="R89c99a3fffcd42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035a2371d46ba" /><Relationship Type="http://schemas.openxmlformats.org/officeDocument/2006/relationships/notesSlide" Target="/ppt/notesSlides/notesSlide7.xml" Id="R0196eb03a87440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95ebb76414ab2" /><Relationship Type="http://schemas.openxmlformats.org/officeDocument/2006/relationships/notesSlide" Target="/ppt/notesSlides/notesSlide8.xml" Id="Rc579189ff04f4b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e1506d62640f3" /><Relationship Type="http://schemas.openxmlformats.org/officeDocument/2006/relationships/notesSlide" Target="/ppt/notesSlides/notesSlide9.xml" Id="Rc8ebd82e80b44a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8f3aa39604ee2" /><Relationship Type="http://schemas.openxmlformats.org/officeDocument/2006/relationships/notesSlide" Target="/ppt/notesSlides/notesSlide10.xml" Id="R56d1dc93b9464a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d9e8a01e64698" /><Relationship Type="http://schemas.openxmlformats.org/officeDocument/2006/relationships/notesSlide" Target="/ppt/notesSlides/notesSlide11.xml" Id="R9b2ec6f8a58446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ee29f02674627" /><Relationship Type="http://schemas.openxmlformats.org/officeDocument/2006/relationships/notesSlide" Target="/ppt/notesSlides/notesSlide12.xml" Id="R9f1506a88d5a4a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a96085b0746f6" /><Relationship Type="http://schemas.openxmlformats.org/officeDocument/2006/relationships/notesSlide" Target="/ppt/notesSlides/notesSlide13.xml" Id="R264f9d7cd8cc48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5f83278d34e39" /><Relationship Type="http://schemas.openxmlformats.org/officeDocument/2006/relationships/notesSlide" Target="/ppt/notesSlides/notesSlide14.xml" Id="Rc0c282414fc941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878318c084467" /><Relationship Type="http://schemas.openxmlformats.org/officeDocument/2006/relationships/notesSlide" Target="/ppt/notesSlides/notesSlide15.xml" Id="R9eabe1b3c6db435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Annual potential in ₹ crore</c:v>
          </c:tx>
          <c:spPr>
            <a:solidFill xmlns:a="http://schemas.openxmlformats.org/drawingml/2006/main">
              <a:srgbClr val="4767D8"/>
            </a:solidFill>
          </c:spPr>
          <c:cat>
            <c:strRef>
              <c:f>'Chart Data'!$A$2:$A$4</c:f>
              <c:strCache>
                <c:ptCount val="3"/>
                <c:pt idx="0">
                  <c:v>TAM</c:v>
                </c:pt>
                <c:pt idx="1">
                  <c:v>SAM</c:v>
                </c:pt>
                <c:pt idx="2">
                  <c:v>SOM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13496</c:v>
                </c:pt>
                <c:pt idx="1">
                  <c:v>1389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₹ crore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41DED-DC1D-451E-97F6-0D2A213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01663-F338-4E27-AA70-6B083BD7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954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4AC59-3931-4CEF-8D5F-27C38741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Personal market intelligence for students and aspiring founders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5B116-44C4-4CB8-9982-91CC85AA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Outclass Project | Product strategy, market opportunity, MVP and launch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52285-D8C3-4D12-8418-4DE348EA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FCE44-DECF-45AC-9C02-E39FD3C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A 7 minute presentation with a local MVP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DC696-0C14-4AB2-B5F4-29E9F018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0808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DD432-D857-43BD-94E0-09DC70D9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32B62-0DDA-4BCE-A857-F63DF6FE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BFB82-E3C0-4A51-86C0-E021D630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92E59-A468-4C6C-970A-6D2639B0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Students research emerging sectors through a scattered set of 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BDC00-6453-4C20-81DA-3B6E0CED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CE90A-AB4E-4880-957A-515062B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E647F-B63F-4A8F-976E-B5B630CB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Fragmented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92819-B712-4D24-95E1-D9F754F2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93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Students move between search engines, X, LinkedIn, YouTube, VC blogs and company sites. Each source provides a piece of the picture.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C2869-6C49-4A46-AE0E-02086EB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E8C7D-FFC6-45D6-B9B7-7B7EA270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Manual synthesis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E1638-ACB0-405F-AADA-5923E2F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293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The work of connecting funding, products, investor behaviour and market shifts takes time. Repeating it every week is difficult.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72ACA-4CAE-4D58-8249-8E31A62B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F2FE4-46C0-4B07-844B-535C2918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Missing opportunity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2FCA8-C9FE-439A-9C76-660B900C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293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News feeds and company databases show events. Students still need help understanding recurring patterns and deciding what to investigate.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4D8C6-3229-4689-8C34-0C99FF51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Initial use case: Masters’ Union students completing ecosystem-analysis assignments and exploring founder ideas.</a:t>
            </a:r>
          </a:p>
        </p:txBody>
      </p:sp>
    </p:spTree>
    <p:extLst>
      <p:ext uri="{BB962C8B-B14F-4D97-AF65-F5344CB8AC3E}">
        <p14:creationId xmlns:p14="http://schemas.microsoft.com/office/powerpoint/2010/main" val="638407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D9591-FC4B-4541-8E90-52196131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2107B-34DC-4F5B-9CAA-E9B29F1B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User persona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37FC8-F025-4F24-B86A-65BE0BE0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B3233-D3AF-4107-AB67-D3B404A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Aarav represents the first user segment.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C92C9-4BE1-4389-A944-FF7D38EF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C7468-7232-4A1E-AA14-EFE219F5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Aarav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B6A6F-E2E2-4CE0-B352-7D57FAFC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22 years old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Masters’ Union student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Aspiring 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70A2C-C691-4E75-9053-62B2F505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DFC2F-307E-4A51-8A30-0F133E1D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Current behaviour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4EB34-E27D-4EDD-A885-4A65836B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47925"/>
            <a:ext cx="27432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Follows founders, tracks funding, reads articles and watches podcasts. He has many inputs but no consistent view of the market.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B93C4-7486-497E-8E0A-E614AE2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4F17C-1B5E-470A-9528-B2E0812B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Job to be done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8B8E5-6CFA-4F94-A4CB-D32F9D5B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47925"/>
            <a:ext cx="27432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Help me understand what is changing in a chosen sector and show me which opportunity deserves my next hour of research.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5ADD7-837A-46E5-8609-A3DF9C8A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071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Success for Aarav: he can move from a market event to evidence, a pattern and a research question without building a manual spreadsheet.</a:t>
            </a:r>
          </a:p>
        </p:txBody>
      </p:sp>
    </p:spTree>
    <p:extLst>
      <p:ext uri="{BB962C8B-B14F-4D97-AF65-F5344CB8AC3E}">
        <p14:creationId xmlns:p14="http://schemas.microsoft.com/office/powerpoint/2010/main" val="1829004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504EA-4696-4B54-98D6-A8DB8A10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90BC2-9220-49F0-9C17-E5633EF9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A59FE-5415-4B30-A21D-B7244615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C5A15-96D4-4135-BDC6-C464708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need is growing for domain-specific knowledge and a human check on AI-generated conclusions.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D5E35-784E-4101-898C-95A6DCB7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23AC9-F454-43D1-B3DC-4F62329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2C947-CC1B-466E-9FCE-60D7D42D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Domain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79219-3AA9-4939-91A4-0651112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5053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Gartner’s public GenAI adoption research identifies domain-specific knowledge management and agentic assistants as drivers of adoption over the next three years.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2C483-B32C-4690-93EB-AC6A34EF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8B778-64BF-42C2-B1BD-513E5F6B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9550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Human judgment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160E4-C9D3-4C60-9D35-DB6D33FD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95550"/>
            <a:ext cx="45053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A personal intelligence product should retain source lineage, show counter-evidence and let the student decide what to explore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A0D18-16C3-4F3C-8B5A-D430EBB2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09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Product implication: start with a narrow domain and evidence-backed workflows before expanding across sectors.</a:t>
            </a:r>
          </a:p>
        </p:txBody>
      </p:sp>
    </p:spTree>
    <p:extLst>
      <p:ext uri="{BB962C8B-B14F-4D97-AF65-F5344CB8AC3E}">
        <p14:creationId xmlns:p14="http://schemas.microsoft.com/office/powerpoint/2010/main" val="18621422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25EF4-0A9E-4A90-8009-80EEA716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B506F-A55E-4DD5-A7C5-29C466F3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Market sizing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9E82A-D694-424C-AFDE-9D5F35A8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E3E3C-C895-41BD-8BED-3D676CB8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Annual subscription opportunity in India. Pricing and capture values are planning assumptions.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83CD0-62D9-4C7D-91CA-0C1BFAA0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952500" y="2047875"/>
          <a:ext xmlns:a="http://schemas.openxmlformats.org/drawingml/2006/main" cx="5715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7348f71f07495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F95D4-1478-46BB-952C-F7F7114A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4.50 crore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B84EE-C8EC-4F6D-BE0D-9EC9D08F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1C8FE-B30F-4F33-82AF-88B7378B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9082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All higher-education students in India × ₹2,999 annual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A5197-5E6A-42A5-B8FF-060B7892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8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D8D70"/>
                </a:solidFill>
                <a:latin typeface="Helvetica Neue"/>
                <a:ea typeface="Helvetica Neue"/>
                <a:cs typeface="Helvetica Neue"/>
              </a:rPr>
              <a:t>46.32 lakh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08B67-94EE-4A47-B486-DDED199F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75504-6E28-43B9-907D-9978455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Management PG plus Engineering and Technology UG students × ₹2,999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7A4B3-0FE3-4B85-9C41-6E2594FE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8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88422"/>
                </a:solidFill>
                <a:latin typeface="Helvetica Neue"/>
                <a:ea typeface="Helvetica Neue"/>
                <a:cs typeface="Helvetica Neue"/>
              </a:rPr>
              <a:t>10,000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41FDB-07B8-4D3C-BAEF-A17610B2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A8D85-DDDF-46F7-94C7-23F5BB0A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7207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Three-year campus-pilot target. 25 cohorts × 400 paid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962B8-732F-41F9-AF90-970B225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TAM: ₹13,496 crore | SAM: ₹1,389 crore | SOM: ₹3.0 crore annual recurring revenue</a:t>
            </a:r>
          </a:p>
        </p:txBody>
      </p:sp>
    </p:spTree>
    <p:extLst>
      <p:ext uri="{BB962C8B-B14F-4D97-AF65-F5344CB8AC3E}">
        <p14:creationId xmlns:p14="http://schemas.microsoft.com/office/powerpoint/2010/main" val="710975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7F953-5363-4CA7-A97C-FF6EBBD5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965CF-9EE2-4CA0-970B-C505E784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Competitive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16F4A-6399-41C3-B7B9-67D843AC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85694-36BA-4DD1-8A46-4B2CE8FD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Existing tools are strong at data access. Intelligence adds an evidence-led student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07E4C-82E2-4866-BB78-A815F18A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190750"/>
                <a:gridCol w="1095375"/>
                <a:gridCol w="1238250"/>
                <a:gridCol w="1571625"/>
                <a:gridCol w="1381125"/>
                <a:gridCol w="1619250"/>
              </a:tblGrid>
              <a:tr h="48305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strength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News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Startup data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Investor thesis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Patterns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Intelligence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Personal market research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PitchBook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market data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CB Insights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Enterprise market intelligence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Tracxn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Startup intelligence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Dealroom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Ecosystem tracking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Crunchbase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Company database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B4BC9-E169-40F9-8DB3-F9B939A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Feature comparison based on public product positioning. “Limited” means the feature exists in a narrower or enterprise-focused form.</a:t>
            </a:r>
          </a:p>
        </p:txBody>
      </p:sp>
    </p:spTree>
    <p:extLst>
      <p:ext uri="{BB962C8B-B14F-4D97-AF65-F5344CB8AC3E}">
        <p14:creationId xmlns:p14="http://schemas.microsoft.com/office/powerpoint/2010/main" val="1475100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168F2-0D09-4854-AD1E-7BCC9432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59E2B-2F58-4A80-B99F-25149577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Product hypothesis and value proposition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A5B12-D54C-42D9-B1CD-A4C3906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AE951-4D78-493A-BB8A-2F868242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Students will return when intelligence turns market activity into a traceable research thread.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CE4BC-6068-427A-BC13-B3802CD4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9E598-97A2-45F0-B237-5DB0C8E9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569CF-FE44-4E35-B81D-2C32369D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38983-843B-4753-9D19-314EB64E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5529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If a student chooses a domain and receives source-backed signals, pattern context and an investigation path, they will save time and develop stronger market theses.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099CB-AF34-43E0-95C2-54A214AC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D72F6-EC4A-4450-B8FC-C56E79AD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Value proposition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FCEC4-385F-4B92-913B-4F54D23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45529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One workspace connects investment activity, evidence, signals, patterns and hypotheses. The user can follow the trail instead of collecting links across tabs.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5C4CF-FBFA-47AC-91BD-12001F08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25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North Star Metric: weekly active users who open an intelligence item and then save, share or investigate it further.</a:t>
            </a:r>
          </a:p>
        </p:txBody>
      </p:sp>
    </p:spTree>
    <p:extLst>
      <p:ext uri="{BB962C8B-B14F-4D97-AF65-F5344CB8AC3E}">
        <p14:creationId xmlns:p14="http://schemas.microsoft.com/office/powerpoint/2010/main" val="335468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64AE8-53E8-491F-8A90-D46CFB0E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2A4EF-7558-4383-B5AB-71F0353A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Solution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C69E0-117F-4D51-9BB5-68B948CE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ECD44-2FE6-428E-8D4B-7030D30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 personal intelligence flow from domain selection to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E7F6C-1761-4B1A-BC7A-151455CB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5864F-3AF8-4E64-BCA4-D8C8766B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Choose a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5A162-B6B3-477A-B440-A0E0D9C5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Receive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A710D-31DD-411C-9AC5-5C30F50A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Read the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8CAB3-1F3A-419B-BF4B-C36E0F40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Track patterns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429A6-7BAC-41C7-A633-18D9E96E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E5CC9-D992-4930-ACC1-119A3B64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8EFA8-6BA1-4C67-83E0-F7BE46D1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D0E20-3A9B-426D-BB11-7BC4C34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B85F8-4FDB-42EB-A51E-E6B39E04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AI domains, topics and geography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9713F-6DF8-4796-86AC-76BE40F8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Funding, product and research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A3D5C-EC98-49E7-AF86-831A349D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External sources and counter-evidence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69C08-7F2B-482C-BFF0-9B561575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Recurring market relationships and hypotheses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46378-3053-4183-8D9D-6CECC30C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The MVP also includes company investment pages, a saved-intelligence library, a seven-day timeline and a profile that stores user preferences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5676850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690D8-00E2-4277-B9D9-02B41F73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5F03C-877D-4BDD-8D40-4EF256A1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Functional MVP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997EE-46C9-45B7-A793-BE4D211D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3D0CB-C215-4423-B13C-0F561B23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product runs locally and the demo follows the research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11D7F-C0B2-40CE-80D8-25C2BDB1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2047875"/>
          <a:ext xmlns:a="http://schemas.openxmlformats.org/drawingml/2006/main" cx="10096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2428875"/>
                <a:gridCol w="6762750"/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to show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/login and /signup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account entry points and first-time profile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/onboarding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Domain selection before the workspace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/workspace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Signals, pattern context and market overview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/investments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Cross-domain funding comparison and company details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/signals/[id] and /library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links, save action and saved-item return path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/admin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Read-only operational preview and backend-ready admin views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64936-620F-450A-82F7-2F937B21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Demo time: 60 to 75 seconds. Use the local server already running on the presenter’s laptop.</a:t>
            </a:r>
          </a:p>
        </p:txBody>
      </p:sp>
    </p:spTree>
    <p:extLst>
      <p:ext uri="{BB962C8B-B14F-4D97-AF65-F5344CB8AC3E}">
        <p14:creationId xmlns:p14="http://schemas.microsoft.com/office/powerpoint/2010/main" val="917392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31019-3306-4973-86ED-8E170EA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A7ED0-7EE9-464C-82DF-C0BCF29F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Customer discovery and interview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E76C8-3B8F-415D-ADD1-47A12D30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D00BD-A198-4F93-A133-26EE0F0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supplied project file documents the user problem but contains no primary-interview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6F248-099D-4EBD-A7FC-A3582661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832E3-9AB8-422A-87E6-31E917A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2C1C2-6596-46AB-A280-2E79EC90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Evidence available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39FC4-0038-4CBE-AA2D-817EE207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4577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The project document defines the student and aspiring founder persona, their fragmented research workflow and the need for continuous domain intelligence.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7A97C-075E-4DBE-B16B-27169535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E0D9B-F76E-4FED-A795-A7812806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955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Interview sprint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4EB0D-2EB0-4E4F-8D71-07BC97AE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44577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Interview 5 Masters’ Union students and 3 aspiring founders. Ask about their current research stack, time spent, trust in AI summaries and willingness to pay.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36634-D535-4AE5-BD36-92560089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Decision rule: move from prototype to pilot when at least 5 of 8 participants complete a research task and state that the workflow would replace part of their current manual process.</a:t>
            </a:r>
          </a:p>
        </p:txBody>
      </p:sp>
    </p:spTree>
    <p:extLst>
      <p:ext uri="{BB962C8B-B14F-4D97-AF65-F5344CB8AC3E}">
        <p14:creationId xmlns:p14="http://schemas.microsoft.com/office/powerpoint/2010/main" val="6576450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59249-F258-453A-AB76-6EB73659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31100-3D02-4B45-A598-3BB3386D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Feedback incorporated into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33CD8-1F3F-4AE3-A141-600D541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48BF1-289F-4E61-890E-0B26045B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current build reflects decisions made during product iteration.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2216B-369D-46DD-B5F4-B24B5AF9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762500"/>
                <a:gridCol w="3524250"/>
              </a:tblGrid>
              <a:tr h="6111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Feedback or need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Prototype response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in MVP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Account flow should begin with login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Root route directs users to login. Sign-up and login use separate pages.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Login, sign-up and onboarding routes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Domain choice belongs after sign-up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First-time profile leads into domain selection before workspace entry.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Profile and onboarding routes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work should remain accessible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Signals, patterns and hypotheses support save actions and return paths in Saved Intelligence.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Library and action controls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Investment comparison needs a clear graph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Six-domain investment chart and company detail pages support the capital-flow question.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Investments and company routes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Operational data needs a safe view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Read-only admin screen uses safe fields and RLS-ready view definitions.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 route and migration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5458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E209F-FA85-445C-B27E-418052B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F68EE-8052-40A1-B1A0-378E1CB0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Feature prioritization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F29FF-F7EC-4635-AA7F-C860EE12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98C6E-934B-421B-A509-2DA03683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RICE ranks the next product decisions. MoSCoW protects the MVP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E4E04-C5CA-4573-AE0F-2A4B987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5ACE4-19F4-4E6D-830B-B4214D2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RICE score = Reach × Impact × Confidence ÷ Effort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60FE1-0B1F-4CEB-B91B-5B935DF8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Productboard describes RICE as an objective scoring system and MoSCoW as a way to communicate release inclusion.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14375" y="3143250"/>
          <a:ext xmlns:a="http://schemas.openxmlformats.org/drawingml/2006/main" cx="61912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762000"/>
                <a:gridCol w="857250"/>
                <a:gridCol w="1000125"/>
                <a:gridCol w="809625"/>
                <a:gridCol w="762000"/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Reach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Impact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Confidence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Effort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Onboarding and domain selection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6.0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 and personalize intelligence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Investment tracker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Pattern and hypothesis layer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 control panel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553EF-38D4-44EA-B7DD-07D9F4A5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571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34B30-9443-4191-A1A0-87EBDC6B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MoSCoW MVP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AF4C9-9A72-494B-BFCC-BA2AE3A4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2838450" cy="326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Must have: sign-up, domain selection, signals, evidence links, saved items and investment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Should have: personalisation and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Could have: admin preview.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Later: full validation engine and billing.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3A85B-D517-460F-BB81-C6616D78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Scores are team assumptions for relative sequencing and should be recalibrated after primary interviews.</a:t>
            </a:r>
          </a:p>
        </p:txBody>
      </p:sp>
    </p:spTree>
    <p:extLst>
      <p:ext uri="{BB962C8B-B14F-4D97-AF65-F5344CB8AC3E}">
        <p14:creationId xmlns:p14="http://schemas.microsoft.com/office/powerpoint/2010/main" val="15130631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6A1D4-9DCF-4BEC-841E-615215B2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1238D-AE7C-49AE-AD85-412DBC86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Product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61A57-0542-4486-938E-2A03FC9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7BB96-3D7D-4A2B-A2E2-F5D70159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roadmap moves from a usable research flow to a trusted campus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21048-4488-45B0-9D94-CAD83562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52500" y="2000250"/>
          <a:ext xmlns:a="http://schemas.openxmlformats.org/drawingml/2006/main" cx="10287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809750"/>
                <a:gridCol w="66675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Phase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Now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Login, onboarding, workspace, investment view, saved intelligence and local MVP demo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Trust and persistence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Weeks 1 to 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Supabase Auth, profile persistence, workspace isolation and real saved items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intelligence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Weeks 5 to 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n8n research integration, source lineage, backfill and seven-day patterns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Campus pilot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Weeks 9 to 12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 cohorts, interview feedback, activation tracking and student pricing tests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Expansion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pilot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Additional domains, validation workflow and institution partnerships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E7AE7-F20C-4406-AA5E-3C447579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Priority order follows RICE and the evidence needed to validate repeat use.</a:t>
            </a:r>
          </a:p>
        </p:txBody>
      </p:sp>
    </p:spTree>
    <p:extLst>
      <p:ext uri="{BB962C8B-B14F-4D97-AF65-F5344CB8AC3E}">
        <p14:creationId xmlns:p14="http://schemas.microsoft.com/office/powerpoint/2010/main" val="973938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ED9FF-2D26-48DA-A83D-CAC5D294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713B4-04D8-446F-BE18-5D7E016F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Success criteria and KPIs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46BA1-75BF-4F45-9195-F0744191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63BE4-CF99-424F-B04E-FF9D0CC0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Metrics connect adoption, research quality and user satisfaction.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A0FC8-7792-4510-BF3F-2BA0D421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857875"/>
                <a:gridCol w="3095625"/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 target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North Star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Weekly active users who open and then save, share or investigate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40% of activated pilot users by week 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Activation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Users who choose a domain and open their first intelligence item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60% within first session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Retention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Users returning weekly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30% in week 4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 quality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item opens that lead to an evidence view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50% of saved-item sessions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Satisfaction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CSAT after a completed research task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4.0 out of 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Advocacy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NPS after four weeks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Positive score and qualitative reasons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Pipeline health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Daily brief freshness and source coverage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Visible source cutoff on every brief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C94AF-DDBD-4600-8B16-22A12CD3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Instrument the MVP with PostHog, Mixpanel, Amplitude or Google Analytics after consent and privacy requirements are defined.</a:t>
            </a:r>
          </a:p>
        </p:txBody>
      </p:sp>
    </p:spTree>
    <p:extLst>
      <p:ext uri="{BB962C8B-B14F-4D97-AF65-F5344CB8AC3E}">
        <p14:creationId xmlns:p14="http://schemas.microsoft.com/office/powerpoint/2010/main" val="20020329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2217B-E847-43C1-8B84-9B13A9DF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AA326-0CE0-4B3F-9FB4-A348DAAA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Go-to-market and monetization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1DEA4-B6CA-4EAF-A3CD-1A2887B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D8523-C1C4-4918-9B2A-4E3B45BF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Start with a narrow campus use case, prove repeat research behaviour, then expand by domain.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163EC-83D9-4ADC-BE4D-13D660B7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EF941-3219-442F-94E2-D3DF4908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59173-E10F-4D77-B893-A69DEDF1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Beachhead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6114C-8D4C-4A23-9730-9366FD81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74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Masters’ Union courses and clubs that require ecosystem research. Run a guided pilot through faculty, student communities and founder events.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6D036-82E6-4E59-86EF-4BB00818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348CB-83C9-4956-8B52-D364E381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Acquisition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97DBF-274D-4A66-9F60-7A48FED9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95550"/>
            <a:ext cx="274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Use a free weekly AI brief as the entry point. Convert engaged users through domain tracking, saved research and company-investigation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7B433-65A0-47DC-9B98-21A26CC4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7EE25-0940-4CCD-AF13-B31D53A2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E4EF1-5490-410F-83DC-AC26604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274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Freemium access to the daily brief. Student plan at ₹2,999 per year. Institution pilots and cohort licenses follow after repeat use is proven.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64EAE-81C9-4347-917D-8DFDD03E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5559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Close with the local demo: choose a domain, inspect investment movement, open evidence and save an item for the next research session.</a:t>
            </a:r>
          </a:p>
        </p:txBody>
      </p:sp>
    </p:spTree>
    <p:extLst>
      <p:ext uri="{BB962C8B-B14F-4D97-AF65-F5344CB8AC3E}">
        <p14:creationId xmlns:p14="http://schemas.microsoft.com/office/powerpoint/2010/main" val="1065931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2026-09-28T19:24:47.1540000Z</dcterms:created>
  <dcterms:modified xsi:type="dcterms:W3CDTF">2026-09-28T19:24:47.1540000Z</dcterms:modified>
</coreProperties>
</file>